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51703599-6b3e8379aa8c" ContentType="image/photo-1551703599-6b3e8379aa8c"/>
  <Default Extension="photo-1558494949-ef010cbdcc31" ContentType="image/photo-1558494949-ef010cbdcc31"/>
  <Default Extension="photo-1518770660439-4636190af475" ContentType="image/photo-1518770660439-4636190af475"/>
  <Default Extension="photo-1544197150-b99a580bb7a8" ContentType="image/photo-1544197150-b99a580bb7a8"/>
  <Default Extension="photo-1487058792275-0ad4aaf24ca7" ContentType="image/photo-1487058792275-0ad4aaf24ca7"/>
  <Default Extension="photo-1677442135703-1787eea5ce01" ContentType="image/photo-1677442135703-1787eea5ce01"/>
  <Default Extension="photo-1563986768609-322da13575f3" ContentType="image/photo-1563986768609-322da13575f3"/>
  <Default Extension="photo-1510511459019-5dda7724fd87" ContentType="image/photo-1510511459019-5dda7724fd87"/>
  <Default Extension="photo-1461749280684-dccba630e2f6" ContentType="image/photo-1461749280684-dccba630e2f6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com/photo-1558494949-ef010cbdcc3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551703599-6b3e8379aa8c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558494949-ef010cbdcc3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18770660439-4636190af47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hoto-1544197150-b99a580bb7a8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hoto-1487058792275-0ad4aaf24ca7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551703599-6b3e8379aa8c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hoto-1677442135703-1787eea5ce0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hoto-1563986768609-322da13575f3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hoto-1510511459019-5dda7724fd87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hoto-1461749280684-dccba630e2f6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com/photo-1504384308090-c894fdcc538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E86C1">
              <a:alpha val="85000"/>
            </a:srgbClr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73152" cy="1463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68580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DESIGN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REPORT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LAN Architecture for a Small-to-Medium Enterprise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Limkokwing University of Creative Technology  |  Information Technology  |  DCOMP 114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pic>
        <p:nvPicPr>
          <p:cNvPr id="3" name="Image 0" descr="https://images.unsplash.com/photo-1551703599-6b3e8379aa8c?w=900&amp;q=80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329184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365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400" kern="0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" y="960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Report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520440" y="41148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593592" y="48463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23360" y="48463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Objectives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20440" y="128016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93592" y="135331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023360" y="135331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and TCP/IP Theoretical Framework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20440" y="214884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93592" y="222199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023360" y="222199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Fundamentals &amp; Ethernet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520440" y="301752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593592" y="309067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023360" y="309067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 Design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520440" y="388620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593592" y="395935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23360" y="395935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Technologies &amp; L2 Protocols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0" y="41148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73952" y="48463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03720" y="48463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Addressing &amp; Subnetting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0" y="128016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73952" y="135331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903720" y="135331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Routing Principles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0" y="214884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73952" y="222199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903720" y="222199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Networking &amp; NAT Security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0" y="301752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473952" y="309067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903720" y="309067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Verification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400800" y="3886200"/>
            <a:ext cx="2651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473952" y="395935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903720" y="3959352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Scalability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EXECUTIVE SUMMARY</a:t>
            </a:r>
            <a:endParaRPr lang="en-US" sz="2200" dirty="0"/>
          </a:p>
        </p:txBody>
      </p:sp>
      <p:pic>
        <p:nvPicPr>
          <p:cNvPr id="4" name="Image 0" descr="https://images.unsplash.com/photo-1558494949-ef010cbdcc31?w=14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51560"/>
            <a:ext cx="333756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40680" y="1024128"/>
            <a:ext cx="3401568" cy="3803904"/>
          </a:xfrm>
          <a:prstGeom prst="roundRect">
            <a:avLst>
              <a:gd name="adj" fmla="val 1344"/>
            </a:avLst>
          </a:prstGeom>
          <a:solidFill>
            <a:srgbClr val="FFFFFF">
              <a:alpha val="0"/>
            </a:srgbClr>
          </a:solidFill>
          <a:ln w="25400">
            <a:solidFill>
              <a:srgbClr val="2E86C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78992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74320" y="1572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08760" y="1078992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50876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508760" y="1572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Phases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0" y="1078992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320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254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72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Hosts/Subnet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977640" y="1078992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97764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977640" y="1572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Goal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6032" y="2176272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219456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simulated a scalable LAN for a small-to-medium enterprise using Cisco Packet Tracer.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56032" y="2715768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27340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hierarchical star topology with a Core Router (Router0), two Cisco 2960 switches, and a Linksys WRT300N wireless router.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56032" y="3255264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3273552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guarantees collision-free traffic via Layer 2 switching, with Layer 3 inter-departmental routing.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56032" y="3794760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381304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wireless mobility via IEEE 802.11 with NAT security sandboxing for mobile clients.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56032" y="4334256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4352544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multi-phase testing (ping, ARP, ICMP) confirmed 100% cross-subnet connectivity.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18770660439-4636190af475?w=900&amp;q=80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OSI &amp; TCP/IP MODELS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1005840"/>
            <a:ext cx="475488" cy="475488"/>
          </a:xfrm>
          <a:prstGeom prst="roundRect">
            <a:avLst>
              <a:gd name="adj" fmla="val 7692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1005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10332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26187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protocols (HTTP, FTP, DNS)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1581912"/>
            <a:ext cx="475488" cy="475488"/>
          </a:xfrm>
          <a:prstGeom prst="roundRect">
            <a:avLst>
              <a:gd name="adj" fmla="val 7692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581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160934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18379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encoding, compression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8600" y="2157984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1C40F"/>
          </a:solidFill>
          <a:ln w="12700">
            <a:solidFill>
              <a:srgbClr val="F1C40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21579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218541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241401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&amp; synchronization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2734056"/>
            <a:ext cx="475488" cy="475488"/>
          </a:xfrm>
          <a:prstGeom prst="roundRect">
            <a:avLst>
              <a:gd name="adj" fmla="val 7692"/>
            </a:avLst>
          </a:prstGeom>
          <a:solidFill>
            <a:srgbClr val="2ECC71"/>
          </a:solidFill>
          <a:ln w="12700">
            <a:solidFill>
              <a:srgbClr val="2ECC7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" y="2734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" y="276148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" y="299008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 – reliable or fast delivery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28600" y="3310128"/>
            <a:ext cx="475488" cy="475488"/>
          </a:xfrm>
          <a:prstGeom prst="roundRect">
            <a:avLst>
              <a:gd name="adj" fmla="val 7692"/>
            </a:avLst>
          </a:prstGeom>
          <a:solidFill>
            <a:srgbClr val="1ABC9C"/>
          </a:solidFill>
          <a:ln w="12700">
            <a:solidFill>
              <a:srgbClr val="1ABC9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8600" y="33101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7240" y="333756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" y="35661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&amp; routing (Router0)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28600" y="3886200"/>
            <a:ext cx="475488" cy="475488"/>
          </a:xfrm>
          <a:prstGeom prst="roundRect">
            <a:avLst>
              <a:gd name="adj" fmla="val 7692"/>
            </a:avLst>
          </a:prstGeom>
          <a:solidFill>
            <a:srgbClr val="3498DB"/>
          </a:solidFill>
          <a:ln w="12700">
            <a:solidFill>
              <a:srgbClr val="3498DB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8600" y="38862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7240" y="391363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" y="41422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frames, Cisco 2960 switching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28600" y="4462272"/>
            <a:ext cx="475488" cy="475488"/>
          </a:xfrm>
          <a:prstGeom prst="roundRect">
            <a:avLst>
              <a:gd name="adj" fmla="val 7692"/>
            </a:avLst>
          </a:prstGeom>
          <a:solidFill>
            <a:srgbClr val="9B59B6"/>
          </a:solidFill>
          <a:ln w="12700">
            <a:solidFill>
              <a:srgbClr val="9B59B6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8600" y="4462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77240" y="448970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77240" y="471830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cables, RF signals, hardware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0749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MODEL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74920" y="1371600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2E86C1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7492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074920" y="2029968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2E86C1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74920" y="20299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074920" y="2688336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2E86C1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74920" y="26883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074920" y="3346704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2E86C1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74920" y="334670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LAN FUNDAMENTALS &amp; ETHERNET</a:t>
            </a:r>
            <a:endParaRPr lang="en-US" sz="2200" dirty="0"/>
          </a:p>
        </p:txBody>
      </p:sp>
      <p:pic>
        <p:nvPicPr>
          <p:cNvPr id="4" name="Image 0" descr="https://images.unsplash.com/photo-1544197150-b99a580bb7a8?w=9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969264"/>
            <a:ext cx="384048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69264"/>
            <a:ext cx="3840480" cy="416052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77640" y="1078992"/>
            <a:ext cx="484632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977640" y="10789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5072" y="1097280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 Ethernet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041648" y="14630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FastEthernet (100 Mbps) and GigabitEthernet (1 Gbps) interfaces used for high throughput and low latency throughout the topology.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77640" y="2066544"/>
            <a:ext cx="484632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77640" y="206654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5072" y="208483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Domains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041648" y="24505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switch port = isolated collision domain. Full-duplex communication enabled. No packet collisions between PC0 and PC1 on SW1.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77640" y="3054096"/>
            <a:ext cx="484632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977640" y="305409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05072" y="3072384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Domains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041648" y="343814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Router segments Dept A (SW1) and Dept B (SW2) into separate broadcast domains — preventing ARP storms from crossing subnets.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77640" y="4041648"/>
            <a:ext cx="484632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977640" y="404164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05072" y="405993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Model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041648" y="442569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Server0 (192.168.10.100) provides centralized resources. The router ensures Dept B (20.x) and wireless (0.x) users can reach 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87058792275-0ad4aaf24ca7?w=900&amp;q=80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>
              <a:alpha val="85000"/>
            </a:srgbClr>
          </a:solidFill>
          <a:ln w="12700">
            <a:solidFill>
              <a:srgbClr val="1B4F72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NETWORK TOPOLOGY DESIGN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834640" cy="3749040"/>
          </a:xfrm>
          <a:prstGeom prst="roundRect">
            <a:avLst>
              <a:gd name="adj" fmla="val 2581"/>
            </a:avLst>
          </a:prstGeom>
          <a:solidFill>
            <a:srgbClr val="000000">
              <a:alpha val="60000"/>
            </a:srgbClr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8872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1ABC9C"/>
          </a:solidFill>
          <a:ln w="12700">
            <a:solidFill>
              <a:srgbClr val="1ABC9C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" y="17556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Infrastructure &amp; Admin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121408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1ABC9C">
              <a:alpha val="40000"/>
            </a:srgbClr>
          </a:solidFill>
          <a:ln w="12700">
            <a:solidFill>
              <a:srgbClr val="1ABC9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121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 /24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2542032"/>
            <a:ext cx="250545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Router Gig0/0 → .1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Server0 → .100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PC0, PC1, PC2 → .11+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18688" y="1097280"/>
            <a:ext cx="2834640" cy="3749040"/>
          </a:xfrm>
          <a:prstGeom prst="roundRect">
            <a:avLst>
              <a:gd name="adj" fmla="val 2581"/>
            </a:avLst>
          </a:prstGeom>
          <a:solidFill>
            <a:srgbClr val="000000">
              <a:alpha val="60000"/>
            </a:srgbClr>
          </a:solidFill>
          <a:ln w="254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10128" y="118872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3498DB"/>
          </a:solidFill>
          <a:ln w="12700">
            <a:solidFill>
              <a:srgbClr val="3498D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0128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28416" y="17556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Operations (Dept B)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10128" y="2121408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3498DB">
              <a:alpha val="40000"/>
            </a:srgbClr>
          </a:solidFill>
          <a:ln w="12700">
            <a:solidFill>
              <a:srgbClr val="3498D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10128" y="2121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192.168.20.0 /24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83280" y="2542032"/>
            <a:ext cx="250545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Router Gig0/1 → .1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PC3, PC4, PC5 → .10, .11, .12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ACL-ready for future security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63056" y="1097280"/>
            <a:ext cx="2834640" cy="3749040"/>
          </a:xfrm>
          <a:prstGeom prst="roundRect">
            <a:avLst>
              <a:gd name="adj" fmla="val 2581"/>
            </a:avLst>
          </a:prstGeom>
          <a:solidFill>
            <a:srgbClr val="000000">
              <a:alpha val="60000"/>
            </a:srgbClr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54496" y="118872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54496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72784" y="17556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&amp; Mobile Access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54496" y="2121408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E67E22">
              <a:alpha val="40000"/>
            </a:srgbClr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54496" y="2121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192.168.30.x + 192.168.0.x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27648" y="2542032"/>
            <a:ext cx="250545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link → .30.2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Linksys DHCP pool → .0.x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PC6, PC7 via Wi-Fi + NAT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Star Topology  ·  Cisco 2960 Switches  ·  Fault-isolated segments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SWITCHING TECHNOLOGIES &amp; LAYER 2 PROTOCOLS</a:t>
            </a:r>
            <a:endParaRPr lang="en-US" sz="2000" dirty="0"/>
          </a:p>
        </p:txBody>
      </p:sp>
      <p:pic>
        <p:nvPicPr>
          <p:cNvPr id="4" name="Image 0" descr="https://images.unsplash.com/photo-1551703599-6b3e8379aa8c?w=9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24128"/>
            <a:ext cx="3108960" cy="3822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1024128"/>
            <a:ext cx="3108960" cy="3822192"/>
          </a:xfrm>
          <a:prstGeom prst="rect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Catalyst 2960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078992"/>
            <a:ext cx="25603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8328" y="1188720"/>
            <a:ext cx="594360" cy="384048"/>
          </a:xfrm>
          <a:prstGeom prst="roundRect">
            <a:avLst>
              <a:gd name="adj" fmla="val 9524"/>
            </a:avLst>
          </a:prstGeom>
          <a:solidFill>
            <a:srgbClr val="2E86C1"/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" y="11887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11887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/ MAC Table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" y="1645920"/>
            <a:ext cx="235915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builds a MAC address table on startup. Maps port → MAC. After population, frames are forwarded only to the correct port.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971800" y="1078992"/>
            <a:ext cx="25603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81528" y="1188720"/>
            <a:ext cx="594360" cy="384048"/>
          </a:xfrm>
          <a:prstGeom prst="roundRect">
            <a:avLst>
              <a:gd name="adj" fmla="val 9524"/>
            </a:avLst>
          </a:prstGeom>
          <a:solidFill>
            <a:srgbClr val="2E86C1"/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81528" y="11887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49040" y="11887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Forwarding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081528" y="1645920"/>
            <a:ext cx="235915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MAC = unicast forward. Unknown MAC or broadcast (FF:FF:FF:FF:FF:FF) = flood to all ports except source.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2816352"/>
            <a:ext cx="25603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8328" y="2926080"/>
            <a:ext cx="594360" cy="384048"/>
          </a:xfrm>
          <a:prstGeom prst="roundRect">
            <a:avLst>
              <a:gd name="adj" fmla="val 9524"/>
            </a:avLst>
          </a:prstGeom>
          <a:solidFill>
            <a:srgbClr val="2E86C1"/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" y="2926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&amp; First Timeout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8328" y="3383280"/>
            <a:ext cx="235915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inter-subnet ping times out while the router sends ARP. Subsequent packets succeed with TTL=127, ~10 ms latency.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971800" y="2816352"/>
            <a:ext cx="25603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081528" y="2926080"/>
            <a:ext cx="594360" cy="384048"/>
          </a:xfrm>
          <a:prstGeom prst="roundRect">
            <a:avLst>
              <a:gd name="adj" fmla="val 9524"/>
            </a:avLst>
          </a:prstGeom>
          <a:solidFill>
            <a:srgbClr val="2E86C1"/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81528" y="29260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749040" y="29260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(STP)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081528" y="3383280"/>
            <a:ext cx="235915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802.1D prevents bridging loops. Amber cable indicator in Packet Tracer = STP convergence in progress.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677442135703-1787eea5ce01?w=900&amp;q=80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IPv4 ADDRESSING &amp; SUBNETTING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" y="1024128"/>
            <a:ext cx="8924544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" y="10424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54480" y="10424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94760" y="10424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35040" y="10424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26680" y="10424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9728" y="1417320"/>
            <a:ext cx="8924544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" y="14356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54480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Gig0/0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794760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35040" y="1435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26680" y="14356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9728" y="1810512"/>
            <a:ext cx="8924544" cy="365760"/>
          </a:xfrm>
          <a:prstGeom prst="rect">
            <a:avLst/>
          </a:prstGeom>
          <a:solidFill>
            <a:srgbClr val="152333"/>
          </a:solidFill>
          <a:ln w="12700">
            <a:solidFill>
              <a:srgbClr val="1B2A3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18288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554480" y="18288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Gig0/1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794760" y="18288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192.168.20.1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035040" y="18288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26680" y="18288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09728" y="2203704"/>
            <a:ext cx="8924544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160" y="222199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554480" y="2221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Gig0/2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794760" y="2221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192.168.30.1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035040" y="222199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726680" y="22219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109728" y="2596896"/>
            <a:ext cx="8924544" cy="365760"/>
          </a:xfrm>
          <a:prstGeom prst="rect">
            <a:avLst/>
          </a:prstGeom>
          <a:solidFill>
            <a:srgbClr val="152333"/>
          </a:solidFill>
          <a:ln w="12700">
            <a:solidFill>
              <a:srgbClr val="1B2A3B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7160" y="261518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Server0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554480" y="261518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794760" y="261518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192.168.10.100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035040" y="26151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726680" y="26151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109728" y="2990088"/>
            <a:ext cx="8924544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7160" y="30083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PC0-PC2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554480" y="300837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794760" y="300837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192.168.10.x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035040" y="300837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726680" y="30083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09728" y="3383280"/>
            <a:ext cx="8924544" cy="365760"/>
          </a:xfrm>
          <a:prstGeom prst="rect">
            <a:avLst/>
          </a:prstGeom>
          <a:solidFill>
            <a:srgbClr val="152333"/>
          </a:solidFill>
          <a:ln w="12700">
            <a:solidFill>
              <a:srgbClr val="1B2A3B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37160" y="3401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PC3-PC5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554480" y="3401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3794760" y="3401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192.168.20.x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035040" y="34015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726680" y="34015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192.168.20.1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109728" y="3776472"/>
            <a:ext cx="8924544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37160" y="37947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Router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1554480" y="37947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3794760" y="37947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192.168.30.2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035040" y="37947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7726680" y="37947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192.168.30.1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109728" y="4169664"/>
            <a:ext cx="8924544" cy="365760"/>
          </a:xfrm>
          <a:prstGeom prst="rect">
            <a:avLst/>
          </a:prstGeom>
          <a:solidFill>
            <a:srgbClr val="152333"/>
          </a:solidFill>
          <a:ln w="12700">
            <a:solidFill>
              <a:srgbClr val="1B2A3B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37160" y="41879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Router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1554480" y="418795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3794760" y="418795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192.168.0.1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6035040" y="418795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7726680" y="41879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109728" y="4562856"/>
            <a:ext cx="8924544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37160" y="45811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PC6, PC7 Wi-Fi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1554480" y="45811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Wireless0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3794760" y="45811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192.168.0.x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6035040" y="45811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7726680" y="45811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109728" y="4892040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 Private Range  192.168.0.0 – 192.168.255.255  |  RFC 1918  |  254 usable hosts per /24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LAYER 3 ROUTING PRINCIPLES</a:t>
            </a:r>
            <a:endParaRPr lang="en-US" sz="2200" dirty="0"/>
          </a:p>
        </p:txBody>
      </p:sp>
      <p:pic>
        <p:nvPicPr>
          <p:cNvPr id="4" name="Image 0" descr="https://images.unsplash.com/photo-1563986768609-322da13575f3?w=9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969264"/>
            <a:ext cx="347472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69264"/>
            <a:ext cx="3474720" cy="4160520"/>
          </a:xfrm>
          <a:prstGeom prst="rect">
            <a:avLst/>
          </a:prstGeom>
          <a:solidFill>
            <a:srgbClr val="1B4F72">
              <a:alpha val="45000"/>
            </a:srgbClr>
          </a:solidFill>
          <a:ln w="12700">
            <a:solidFill>
              <a:srgbClr val="1B4F7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" y="42062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Router (Router0)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ASIC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0" y="1078992"/>
            <a:ext cx="5166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730752" y="11704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0752" y="1170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42816" y="11704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Gateway Check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9040" y="1517904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(10.3) compares PC3 (20.10) against its /24 mask — different network. Sends frame to gateway 192.168.10.1.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0" y="2066544"/>
            <a:ext cx="5166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30752" y="215798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30752" y="2157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42816" y="21579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Decapsulation at Router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49040" y="250545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receives Ethernet frame, strips L2 header, examines inner IP packet. Destination = 192.168.20.10.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0" y="3054096"/>
            <a:ext cx="5166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730752" y="314553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30752" y="3145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42816" y="31455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Table Lookup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749040" y="34930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checks Connected routes. 192.168.20.0 → Gig0/1. No dynamic routing needed — directly connected.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0" y="4041648"/>
            <a:ext cx="5166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730752" y="413308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30752" y="4133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242816" y="41330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Re-encapsulation &amp; Forward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749040" y="44805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Ethernet frame: Src MAC = Gig0/1, Dst MAC = PC3. Fired out Gig0/1 → SW2 → PC3. Reply reverses the process.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10511459019-5dda7724fd87?w=900&amp;q=80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>
              <a:alpha val="85000"/>
            </a:srgbClr>
          </a:solidFill>
          <a:ln w="12700">
            <a:solidFill>
              <a:srgbClr val="1B4F72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WIRELESS NETWORKING &amp; NAT SECURITY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01168" y="105156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000000">
              <a:alpha val="60000"/>
            </a:srgbClr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1430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Linksys WRT300N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15361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802.11 Wireless Router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1920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508760" y="19202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802.11 (2.4 GHz / 5 GHz)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7472" y="23134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508760" y="231343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Frequency (RF)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7472" y="27066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CSMA/CA: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08760" y="27066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Avoidance Protocol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7472" y="30998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508760" y="309981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 / AES Encryption (PSK)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47472" y="34930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Pool: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508760" y="34930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192.168.0.100 → .254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47472" y="38862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IP: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508760" y="3886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192.168.30.2 (from Core Router)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47472" y="42793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GW: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508760" y="427939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 (internal)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480560" y="1051560"/>
            <a:ext cx="4462272" cy="3794760"/>
          </a:xfrm>
          <a:prstGeom prst="roundRect">
            <a:avLst>
              <a:gd name="adj" fmla="val 1928"/>
            </a:avLst>
          </a:prstGeom>
          <a:solidFill>
            <a:srgbClr val="000000">
              <a:alpha val="65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114300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 / PAT Flow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90288" y="1572768"/>
            <a:ext cx="4224528" cy="530352"/>
          </a:xfrm>
          <a:prstGeom prst="roundRect">
            <a:avLst>
              <a:gd name="adj" fmla="val 6897"/>
            </a:avLst>
          </a:prstGeom>
          <a:solidFill>
            <a:srgbClr val="1B2A3B"/>
          </a:solidFill>
          <a:ln w="12700">
            <a:solidFill>
              <a:srgbClr val="F39C12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1591056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PC6 (192.168.0.102) sends ping to Server0 (192.168.10.100)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90288" y="2194560"/>
            <a:ext cx="4224528" cy="530352"/>
          </a:xfrm>
          <a:prstGeom prst="roundRect">
            <a:avLst>
              <a:gd name="adj" fmla="val 6897"/>
            </a:avLst>
          </a:prstGeom>
          <a:solidFill>
            <a:srgbClr val="152333"/>
          </a:solidFill>
          <a:ln w="12700">
            <a:solidFill>
              <a:srgbClr val="F39C12">
                <a:alpha val="2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2212848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Linksys translates Src IP → 192.168.30.2 (WAN IP). Records in NAT table.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90288" y="2816352"/>
            <a:ext cx="4224528" cy="530352"/>
          </a:xfrm>
          <a:prstGeom prst="roundRect">
            <a:avLst>
              <a:gd name="adj" fmla="val 6897"/>
            </a:avLst>
          </a:prstGeom>
          <a:solidFill>
            <a:srgbClr val="1B2A3B"/>
          </a:solidFill>
          <a:ln w="12700">
            <a:solidFill>
              <a:srgbClr val="F39C12">
                <a:alpha val="2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283464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Core Router routes packet as if from 192.168.30.2. Server0 replies.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90288" y="3438144"/>
            <a:ext cx="4224528" cy="530352"/>
          </a:xfrm>
          <a:prstGeom prst="roundRect">
            <a:avLst>
              <a:gd name="adj" fmla="val 6897"/>
            </a:avLst>
          </a:prstGeom>
          <a:solidFill>
            <a:srgbClr val="152333"/>
          </a:solidFill>
          <a:ln w="12700">
            <a:solidFill>
              <a:srgbClr val="F39C12">
                <a:alpha val="2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3456432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Linksys receives reply, consults NAT table, translates Dst back → 192.168.0.102.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90288" y="4059936"/>
            <a:ext cx="4224528" cy="530352"/>
          </a:xfrm>
          <a:prstGeom prst="roundRect">
            <a:avLst>
              <a:gd name="adj" fmla="val 6897"/>
            </a:avLst>
          </a:prstGeom>
          <a:solidFill>
            <a:srgbClr val="1B2A3B"/>
          </a:solidFill>
          <a:ln w="12700">
            <a:solidFill>
              <a:srgbClr val="F39C12">
                <a:alpha val="2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63440" y="4078224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Result: Wireless clients are securely sandboxed. External devices cannot initiate inbound connections.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TROUBLESHOOTING &amp; FINAL VERIFICATION</a:t>
            </a:r>
            <a:endParaRPr lang="en-US" sz="2000" dirty="0"/>
          </a:p>
        </p:txBody>
      </p:sp>
      <p:pic>
        <p:nvPicPr>
          <p:cNvPr id="4" name="Image 0" descr="https://images.unsplash.com/photo-1461749280684-dccba630e2f6?w=9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024128"/>
            <a:ext cx="306324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024128"/>
            <a:ext cx="3063240" cy="3794760"/>
          </a:xfrm>
          <a:prstGeom prst="rect">
            <a:avLst/>
          </a:prstGeom>
          <a:solidFill>
            <a:srgbClr val="0D1B2A">
              <a:alpha val="45000"/>
            </a:srgbClr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1168" y="1078992"/>
            <a:ext cx="53492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7043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1ABC9C"/>
          </a:solidFill>
          <a:ln w="12700">
            <a:solidFill>
              <a:srgbClr val="1ABC9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17043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51560" y="11704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Subnet Test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1499616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→ PC1 (both 192.168.10.x). Tests L1 cabling, L2 switching on SW1, local IPv4. Result: 4/4 packets ✓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1168" y="2039112"/>
            <a:ext cx="53492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13055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1ABC9C"/>
          </a:solidFill>
          <a:ln w="12700">
            <a:solidFill>
              <a:srgbClr val="1ABC9C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21305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51560" y="21305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Gateway Test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2459736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→ 192.168.10.1 (Core Router Gig0/0). Verifies switch-to-router trunk link. Result: 100% success ✓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01168" y="2999232"/>
            <a:ext cx="53492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309067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1ABC9C"/>
          </a:solidFill>
          <a:ln w="12700">
            <a:solidFill>
              <a:srgbClr val="1ABC9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09067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51560" y="309067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Cross-Subnet (L3) Test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3419856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→ PC3 (192.168.20.10). First packet timeout (ARP cache empty). Packets 2-4: TTL=127, ~10ms ✓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01168" y="3959352"/>
            <a:ext cx="534924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405079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1ABC9C"/>
          </a:solidFill>
          <a:ln w="12700">
            <a:solidFill>
              <a:srgbClr val="1ABC9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05079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51560" y="40507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Wireless-to-Wired Test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4379976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PC6 (Wi-Fi) → Server0 (192.168.10.100). NAT translation, DHCP assignment, full ICMP reply chain. ✓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 CONCLUSION &amp; FUTURE SCALABILITY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" y="1280160"/>
            <a:ext cx="4434840" cy="457200"/>
          </a:xfrm>
          <a:prstGeom prst="roundRect">
            <a:avLst>
              <a:gd name="adj" fmla="val 8000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1ABC9C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98448"/>
            <a:ext cx="4279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Hierarchical star topology with full fault isolation per segment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" y="1828800"/>
            <a:ext cx="4434840" cy="457200"/>
          </a:xfrm>
          <a:prstGeom prst="roundRect">
            <a:avLst>
              <a:gd name="adj" fmla="val 8000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1ABC9C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47088"/>
            <a:ext cx="4279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 C /24 subnets — 254 hosts each, ready for future expansion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2377440"/>
            <a:ext cx="4434840" cy="457200"/>
          </a:xfrm>
          <a:prstGeom prst="roundRect">
            <a:avLst>
              <a:gd name="adj" fmla="val 8000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1ABC9C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95728"/>
            <a:ext cx="4279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Cisco 2960 hardware switching eliminates collisions at wire speed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926080"/>
            <a:ext cx="4434840" cy="457200"/>
          </a:xfrm>
          <a:prstGeom prst="roundRect">
            <a:avLst>
              <a:gd name="adj" fmla="val 8000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1ABC9C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944368"/>
            <a:ext cx="4279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Inter-subnet routing via directly-connected routes (no dynamic routing needed)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3474720"/>
            <a:ext cx="4434840" cy="457200"/>
          </a:xfrm>
          <a:prstGeom prst="roundRect">
            <a:avLst>
              <a:gd name="adj" fmla="val 8000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1ABC9C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493008"/>
            <a:ext cx="4279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 security sandbox fully isolates wireless mobile clients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4023360"/>
            <a:ext cx="4434840" cy="457200"/>
          </a:xfrm>
          <a:prstGeom prst="roundRect">
            <a:avLst>
              <a:gd name="adj" fmla="val 8000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1ABC9C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041648"/>
            <a:ext cx="4279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4 test phases passed — 100% end-to-end connectivity verified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841248"/>
            <a:ext cx="3730752" cy="4023360"/>
          </a:xfrm>
          <a:prstGeom prst="roundRect">
            <a:avLst>
              <a:gd name="adj" fmla="val 1961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93268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Scalability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0368" y="1389888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switches uplinked to SW1/SW2 — no re-IP needed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30368" y="1892808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Implement VLANs on Cisco 2960 for micro-segmentation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30368" y="2395728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ACLs on Core Router to restrict cross-subnet access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30368" y="2898648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OSPF/EIGRP if additional routers are introduced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30368" y="3401568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Upgrade WPA2 → WPA3 for enhanced wireless security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30368" y="3904488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Introduce redundant links &amp; HSRP for high availability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Limkokwing University of Creative Technology  |  DCOMP 114  |  Network Administration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Design &amp; Implementation Report</dc:title>
  <dc:subject>PptxGenJS Presentation</dc:subject>
  <dc:creator>Limkokwing University – IT Department</dc:creator>
  <cp:lastModifiedBy>Limkokwing University – IT Department</cp:lastModifiedBy>
  <cp:revision>1</cp:revision>
  <dcterms:created xsi:type="dcterms:W3CDTF">2026-06-17T13:14:01Z</dcterms:created>
  <dcterms:modified xsi:type="dcterms:W3CDTF">2026-06-17T13:14:01Z</dcterms:modified>
</cp:coreProperties>
</file>