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ter Medium"/>
      <p:regular r:id="rId201314"/>
    </p:embeddedFont>
    <p:embeddedFont>
      <p:font typeface="Inter Light"/>
      <p:regular r:id="rId201315"/>
    </p:embeddedFont>
    <p:embeddedFont>
      <p:font typeface="Inter Thin"/>
      <p:regular r:id="rId201316"/>
    </p:embeddedFont>
    <p:embeddedFont>
      <p:font typeface="Inter ExtraLight"/>
      <p:regular r:id="rId201317"/>
    </p:embeddedFont>
    <p:embeddedFont>
      <p:font typeface="Inter SemiBold"/>
      <p:regular r:id="rId201318"/>
    </p:embeddedFont>
    <p:embeddedFont>
      <p:font typeface="Inter Bold"/>
      <p:regular r:id="rId201319"/>
    </p:embeddedFont>
    <p:embeddedFont>
      <p:font typeface="Inter ExtraBold"/>
      <p:regular r:id="rId201320"/>
    </p:embeddedFont>
    <p:embeddedFont>
      <p:font typeface="Inter"/>
      <p:regular r:id="rId201321"/>
    </p:embeddedFont>
    <p:embeddedFont>
      <p:font typeface="Inter Black"/>
      <p:regular r:id="rId201322"/>
    </p:embeddedFont>
    <p:embeddedFont>
      <p:font typeface="Petrona Thin"/>
      <p:regular r:id="rId201323"/>
    </p:embeddedFont>
    <p:embeddedFont>
      <p:font typeface="Petrona ExtraLight"/>
      <p:regular r:id="rId201324"/>
    </p:embeddedFont>
    <p:embeddedFont>
      <p:font typeface="Petrona Light"/>
      <p:regular r:id="rId201325"/>
    </p:embeddedFont>
    <p:embeddedFont>
      <p:font typeface="Petrona"/>
      <p:regular r:id="rId201326"/>
    </p:embeddedFont>
    <p:embeddedFont>
      <p:font typeface="Petrona Medium"/>
      <p:regular r:id="rId201327"/>
    </p:embeddedFont>
    <p:embeddedFont>
      <p:font typeface="Petrona SemiBold"/>
      <p:regular r:id="rId201328"/>
    </p:embeddedFont>
    <p:embeddedFont>
      <p:font typeface="Petrona Bold"/>
      <p:regular r:id="rId201329"/>
    </p:embeddedFont>
    <p:embeddedFont>
      <p:font typeface="Petrona ExtraBold"/>
      <p:regular r:id="rId201330"/>
    </p:embeddedFont>
    <p:embeddedFont>
      <p:font typeface="Petrona Black"/>
      <p:regular r:id="rId2013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214512"/>
            <a:ext cx="4722763" cy="1395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Rokel Commercial Bank — Network &amp; Server Infrastructure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496119" y="2822600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complete network design, implementation, and Windows Server 2022 configuration for RCB's Freetown head office — addressing DCOMP 114 Projects 1 &amp; 2.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662511"/>
            <a:ext cx="1628329" cy="266402"/>
          </a:xfrm>
          <a:prstGeom prst="roundRect">
            <a:avLst>
              <a:gd name="adj" fmla="val 17880"/>
            </a:avLst>
          </a:prstGeom>
          <a:solidFill>
            <a:srgbClr val="CCEEFF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705002"/>
            <a:ext cx="191541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DCOMP 114 FINAL REPORT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6307"/>
            <a:ext cx="7365727" cy="457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Company Profile &amp; Business Justification</a:t>
            </a:r>
            <a:endParaRPr lang="en-US" sz="2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36117"/>
            <a:ext cx="5179516" cy="29350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0767" y="1257598"/>
            <a:ext cx="228875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RCB at a Glance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020767" y="1623864"/>
            <a:ext cx="2631877" cy="13287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Founded 1917 · State-owned · Licensed by Bank of Sierra Leone · </a:t>
            </a:r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200,000+ customers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across 14 branches · </a:t>
            </a:r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62,000 daily transactions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Retail, Corporate, Trade Finance &amp; Mobile Money via IPS.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020767" y="3089970"/>
            <a:ext cx="228875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Why This Project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020767" y="3456236"/>
            <a:ext cx="2631877" cy="1107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Legacy 2016 flat network: single broadcast domain, no segmentation, no centralized auth, no backup. Violates </a:t>
            </a:r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BSL Circular BDS/2023/04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RCB Digital First program mandates modernization.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08608"/>
            <a:ext cx="4722763" cy="930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Project 1 — Network Topology Design</a:t>
            </a:r>
            <a:endParaRPr lang="en-US" sz="2900" dirty="0"/>
          </a:p>
        </p:txBody>
      </p:sp>
      <p:sp>
        <p:nvSpPr>
          <p:cNvPr id="4" name="Shape 1"/>
          <p:cNvSpPr/>
          <p:nvPr/>
        </p:nvSpPr>
        <p:spPr>
          <a:xfrm>
            <a:off x="3925119" y="1551533"/>
            <a:ext cx="2290465" cy="1977256"/>
          </a:xfrm>
          <a:prstGeom prst="roundRect">
            <a:avLst>
              <a:gd name="adj" fmla="val 3011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71640" y="1698054"/>
            <a:ext cx="1997422" cy="465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Three-Tier Architecture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071640" y="2248198"/>
            <a:ext cx="1997422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(L3 routing), Distribution (VLAN aggregation), Access (end-device connectivity). Cisco Catalyst 3560 core with SVIs.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57342" y="1551533"/>
            <a:ext cx="2290539" cy="1977256"/>
          </a:xfrm>
          <a:prstGeom prst="roundRect">
            <a:avLst>
              <a:gd name="adj" fmla="val 3011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03863" y="1698054"/>
            <a:ext cx="1938858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Standards Compliance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503863" y="2015654"/>
            <a:ext cx="199749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IEEE 802.1Q, 802.3u, 802.11ac · RFC 1918 · BSL ICT Security Framework 2023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25119" y="3670548"/>
            <a:ext cx="4722763" cy="1064270"/>
          </a:xfrm>
          <a:prstGeom prst="roundRect">
            <a:avLst>
              <a:gd name="adj" fmla="val 5595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71640" y="3817069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WAN Connectivity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4071640" y="4134669"/>
            <a:ext cx="44297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Mbps SIERRATEL fiber primary + 5 Mbps VSAT failover. Cisco 2911 with NAT/PAT and DSCP QoS.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2849"/>
            <a:ext cx="6726585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VLAN Architecture &amp; VLSM IP Addressing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96119" y="1080269"/>
            <a:ext cx="3924598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VLANs segment the network by department using VLSM on </a:t>
            </a:r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172.16.0.0/16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maximizing address efficiency and enabling ACL security boundaries.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760413"/>
            <a:ext cx="3924598" cy="2848124"/>
          </a:xfrm>
          <a:prstGeom prst="roundRect">
            <a:avLst>
              <a:gd name="adj" fmla="val 182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0881" y="1765176"/>
            <a:ext cx="3915073" cy="51182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25078" y="1835051"/>
            <a:ext cx="336872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VLAN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14661" y="1835051"/>
            <a:ext cx="118325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193429" y="1835051"/>
            <a:ext cx="1378967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Subnet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367906" y="1835051"/>
            <a:ext cx="334491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Gateway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955107" y="1835051"/>
            <a:ext cx="336872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0881" y="2276996"/>
            <a:ext cx="3915073" cy="32578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25078" y="2346871"/>
            <a:ext cx="794072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14661" y="2346871"/>
            <a:ext cx="118325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VLAN_IT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193429" y="2346871"/>
            <a:ext cx="1378967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172.16.10.0/27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67906" y="2346871"/>
            <a:ext cx="79169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.1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955107" y="2346871"/>
            <a:ext cx="794072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0881" y="2602781"/>
            <a:ext cx="3915073" cy="51182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25078" y="2672655"/>
            <a:ext cx="794072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214661" y="2672655"/>
            <a:ext cx="726058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VLAN_BANK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193429" y="2672655"/>
            <a:ext cx="1378967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172.16.20.0/26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67906" y="2672655"/>
            <a:ext cx="79169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.1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955107" y="2672655"/>
            <a:ext cx="794072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0881" y="3114601"/>
            <a:ext cx="3915073" cy="32578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25078" y="3184475"/>
            <a:ext cx="794072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214661" y="3184475"/>
            <a:ext cx="118325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VLAN_FIN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193429" y="3184475"/>
            <a:ext cx="1378967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172.16.30.0/27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67906" y="3184475"/>
            <a:ext cx="79169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.1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955107" y="3184475"/>
            <a:ext cx="794072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0881" y="3440385"/>
            <a:ext cx="3915073" cy="32578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25078" y="3510260"/>
            <a:ext cx="794072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214661" y="3510260"/>
            <a:ext cx="118325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VLAN_EXEC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193429" y="3510260"/>
            <a:ext cx="1378967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172.16.40.0/28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367906" y="3510260"/>
            <a:ext cx="79169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.1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955107" y="3510260"/>
            <a:ext cx="794072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00881" y="3766170"/>
            <a:ext cx="3915073" cy="51182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25078" y="3836045"/>
            <a:ext cx="794072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214661" y="3836045"/>
            <a:ext cx="726058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VLAN_GUEST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193429" y="3836045"/>
            <a:ext cx="1378967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172.16.60.0/25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367906" y="3836045"/>
            <a:ext cx="79169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.1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955107" y="3836045"/>
            <a:ext cx="794072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126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00881" y="4277990"/>
            <a:ext cx="3915073" cy="32578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25078" y="4347865"/>
            <a:ext cx="794072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99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214661" y="4347865"/>
            <a:ext cx="118325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VLAN_SRV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193429" y="4347865"/>
            <a:ext cx="1378967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172.16.99.0/28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367906" y="4347865"/>
            <a:ext cx="79169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.1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955107" y="4347865"/>
            <a:ext cx="794072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950" dirty="0"/>
          </a:p>
        </p:txBody>
      </p:sp>
      <p:pic>
        <p:nvPicPr>
          <p:cNvPr id="4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8046" y="2236366"/>
            <a:ext cx="2232794" cy="12404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4841"/>
            <a:ext cx="5935787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Security Controls — ACLs &amp; Wireless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96119" y="1073125"/>
            <a:ext cx="296413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Access Control Lists on SW-CORE</a:t>
            </a:r>
            <a:endParaRPr lang="en-US" sz="1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1831" y="1398687"/>
            <a:ext cx="2670721" cy="6485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7242" y="1536948"/>
            <a:ext cx="2337048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ACL 101: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Banking → Finance </a:t>
            </a:r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DENY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Retail staff cannot access treasury data</a:t>
            </a:r>
            <a:endParaRPr lang="en-US" sz="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1831" y="2155775"/>
            <a:ext cx="2670721" cy="64859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7242" y="2294037"/>
            <a:ext cx="2337048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ACL 102: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Guest → All Internal </a:t>
            </a:r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DENY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Internet-only isolation</a:t>
            </a:r>
            <a:endParaRPr lang="en-US" sz="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1831" y="2912864"/>
            <a:ext cx="2670721" cy="64859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77242" y="3051125"/>
            <a:ext cx="2337048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ACL 103: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IT → Servers </a:t>
            </a:r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PERMIT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Admin management access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1831" y="3669953"/>
            <a:ext cx="2670721" cy="46255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77242" y="3808214"/>
            <a:ext cx="233704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ACL 104: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others → Servers </a:t>
            </a:r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DENY</a:t>
            </a:r>
            <a:endParaRPr lang="en-US" sz="9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59882" y="1138312"/>
            <a:ext cx="5192688" cy="2942481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96119" y="4376589"/>
            <a:ext cx="8151763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Cisco Aironet 1832i APs: </a:t>
            </a:r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RCB-STAFF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(WPA2-Enterprise + 802.1X/RADIUS) and </a:t>
            </a:r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RCB-GUEST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(WPA2-PSK, VLAN 60, 5 Mbps rate-limited).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91790"/>
            <a:ext cx="4554587" cy="341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Project 2 — Server Configuration</a:t>
            </a:r>
            <a:endParaRPr lang="en-US" sz="21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848097"/>
            <a:ext cx="260226" cy="26022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6119" y="1203871"/>
            <a:ext cx="1465585" cy="170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Virtualization Platform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496119" y="1420490"/>
            <a:ext cx="4722763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VMware Workstation Pro 17 on Dell PowerEdge R550 (Xeon Silver, 64 GB RAM, 4 TB RAID 5). VMs: DC-RCB01, FS-RCB01, WS-RCB01 on VLAN 99.</a:t>
            </a:r>
            <a:endParaRPr lang="en-US" sz="800" dirty="0"/>
          </a:p>
        </p:txBody>
      </p:sp>
      <p:sp>
        <p:nvSpPr>
          <p:cNvPr id="7" name="Shape 3"/>
          <p:cNvSpPr/>
          <p:nvPr/>
        </p:nvSpPr>
        <p:spPr>
          <a:xfrm>
            <a:off x="509141" y="1868016"/>
            <a:ext cx="234107" cy="248469"/>
          </a:xfrm>
          <a:prstGeom prst="roundRect">
            <a:avLst>
              <a:gd name="adj" fmla="val 14647"/>
            </a:avLst>
          </a:prstGeom>
          <a:solidFill>
            <a:srgbClr val="DFDFE0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156" y="1938412"/>
            <a:ext cx="130076" cy="10410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96119" y="2217986"/>
            <a:ext cx="1366391" cy="170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Active Directory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496119" y="2434605"/>
            <a:ext cx="4722763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 </a:t>
            </a:r>
            <a:pPr algn="l" indent="0" marL="0">
              <a:lnSpc>
                <a:spcPct val="116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rcbank.local</a:t>
            </a:r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OU structure mirrors departments. PowerShell bulk import provisions all 70 accounts (firstname.lastname, 12-char passwords, expiry dates).</a:t>
            </a:r>
            <a:endParaRPr lang="en-US" sz="800" dirty="0"/>
          </a:p>
        </p:txBody>
      </p:sp>
      <p:sp>
        <p:nvSpPr>
          <p:cNvPr id="11" name="Shape 6"/>
          <p:cNvSpPr/>
          <p:nvPr/>
        </p:nvSpPr>
        <p:spPr>
          <a:xfrm>
            <a:off x="509141" y="2882131"/>
            <a:ext cx="234107" cy="248469"/>
          </a:xfrm>
          <a:prstGeom prst="roundRect">
            <a:avLst>
              <a:gd name="adj" fmla="val 14647"/>
            </a:avLst>
          </a:prstGeom>
          <a:solidFill>
            <a:srgbClr val="DFDFE0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156" y="2952527"/>
            <a:ext cx="130076" cy="10410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6119" y="3232100"/>
            <a:ext cx="1366391" cy="170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DHCP &amp; DNS</a:t>
            </a:r>
            <a:endParaRPr lang="en-US" sz="1050" dirty="0"/>
          </a:p>
        </p:txBody>
      </p:sp>
      <p:sp>
        <p:nvSpPr>
          <p:cNvPr id="14" name="Text 8"/>
          <p:cNvSpPr/>
          <p:nvPr/>
        </p:nvSpPr>
        <p:spPr>
          <a:xfrm>
            <a:off x="496119" y="3448720"/>
            <a:ext cx="4722763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DHCP scopes per VLAN via relay on SW-CORE. DNS integrated with AD DS — all services resolvable by FQDN within rcbank.local.</a:t>
            </a:r>
            <a:endParaRPr lang="en-US" sz="800" dirty="0"/>
          </a:p>
        </p:txBody>
      </p:sp>
      <p:sp>
        <p:nvSpPr>
          <p:cNvPr id="15" name="Shape 9"/>
          <p:cNvSpPr/>
          <p:nvPr/>
        </p:nvSpPr>
        <p:spPr>
          <a:xfrm>
            <a:off x="509141" y="3896246"/>
            <a:ext cx="234107" cy="248469"/>
          </a:xfrm>
          <a:prstGeom prst="roundRect">
            <a:avLst>
              <a:gd name="adj" fmla="val 14647"/>
            </a:avLst>
          </a:prstGeom>
          <a:solidFill>
            <a:srgbClr val="DFDFE0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156" y="3966642"/>
            <a:ext cx="130076" cy="10410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96119" y="4246215"/>
            <a:ext cx="1493193" cy="170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SMB &amp; DFS File Sharing</a:t>
            </a:r>
            <a:endParaRPr lang="en-US" sz="1050" dirty="0"/>
          </a:p>
        </p:txBody>
      </p:sp>
      <p:sp>
        <p:nvSpPr>
          <p:cNvPr id="18" name="Text 11"/>
          <p:cNvSpPr/>
          <p:nvPr/>
        </p:nvSpPr>
        <p:spPr>
          <a:xfrm>
            <a:off x="496119" y="4462835"/>
            <a:ext cx="4722763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SMB 3.0 encrypted transfers. DFS namespace </a:t>
            </a:r>
            <a:pPr algn="l" indent="0" marL="0">
              <a:lnSpc>
                <a:spcPct val="116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\\rcbank.local\Shared</a:t>
            </a:r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NTFS permissions enforced per department.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9546"/>
            <a:ext cx="5340846" cy="421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Group Policy &amp; Backup Strategy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1132061"/>
            <a:ext cx="2143423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GPOs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4264" y="1480170"/>
            <a:ext cx="192658" cy="1926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3581" y="1473771"/>
            <a:ext cx="3501703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Company Baseline: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Firewall ON, removable media disabled, auto-update enabled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4264" y="2104876"/>
            <a:ext cx="192658" cy="19265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3581" y="2098477"/>
            <a:ext cx="3501703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Password Policy: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Min 12 chars, complexity ON, 60-day max age, 5-attempt lockout</a:t>
            </a:r>
            <a:endParaRPr lang="en-US" sz="10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4264" y="2729582"/>
            <a:ext cx="192658" cy="19265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3581" y="2723183"/>
            <a:ext cx="3501703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Finance Restricted Access: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Map F: drive, block non-Finance shares</a:t>
            </a:r>
            <a:endParaRPr lang="en-US" sz="10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4264" y="3354288"/>
            <a:ext cx="192658" cy="19265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13581" y="3347889"/>
            <a:ext cx="3501703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Workstation Lockdown: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USB AutoPlay disabled, RDP restricted to IT subnet</a:t>
            </a:r>
            <a:endParaRPr lang="en-US" sz="1000" dirty="0"/>
          </a:p>
        </p:txBody>
      </p:sp>
      <p:sp>
        <p:nvSpPr>
          <p:cNvPr id="12" name="Text 6"/>
          <p:cNvSpPr/>
          <p:nvPr/>
        </p:nvSpPr>
        <p:spPr>
          <a:xfrm>
            <a:off x="4733479" y="1132061"/>
            <a:ext cx="3257327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3-2-1 Backup Policy (BSL-Mandated)</a:t>
            </a:r>
            <a:endParaRPr lang="en-US" sz="1300" dirty="0"/>
          </a:p>
        </p:txBody>
      </p:sp>
      <p:sp>
        <p:nvSpPr>
          <p:cNvPr id="13" name="Shape 7"/>
          <p:cNvSpPr/>
          <p:nvPr/>
        </p:nvSpPr>
        <p:spPr>
          <a:xfrm>
            <a:off x="4733479" y="1473771"/>
            <a:ext cx="3919165" cy="2518544"/>
          </a:xfrm>
          <a:prstGeom prst="roundRect">
            <a:avLst>
              <a:gd name="adj" fmla="val 2143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4738241" y="1478533"/>
            <a:ext cx="3909640" cy="54099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9"/>
          <p:cNvSpPr/>
          <p:nvPr/>
        </p:nvSpPr>
        <p:spPr>
          <a:xfrm>
            <a:off x="4866903" y="1553096"/>
            <a:ext cx="156626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6237610" y="1553096"/>
            <a:ext cx="520229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Frequency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7019479" y="1553096"/>
            <a:ext cx="520229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Retention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7801347" y="1553096"/>
            <a:ext cx="117529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4738241" y="2019523"/>
            <a:ext cx="3909640" cy="54099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4"/>
          <p:cNvSpPr/>
          <p:nvPr/>
        </p:nvSpPr>
        <p:spPr>
          <a:xfrm>
            <a:off x="4866903" y="2094086"/>
            <a:ext cx="156626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Server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6237610" y="2094086"/>
            <a:ext cx="97742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7019479" y="2094086"/>
            <a:ext cx="97742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weeks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7801347" y="2094086"/>
            <a:ext cx="718096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Onsite + Offsite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738241" y="2560513"/>
            <a:ext cx="3909640" cy="34505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19"/>
          <p:cNvSpPr/>
          <p:nvPr/>
        </p:nvSpPr>
        <p:spPr>
          <a:xfrm>
            <a:off x="4866903" y="2635076"/>
            <a:ext cx="156626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Incremental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6237610" y="2635076"/>
            <a:ext cx="97742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7019479" y="2635076"/>
            <a:ext cx="97742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weeks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7801347" y="2635076"/>
            <a:ext cx="117529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Onsite NAS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4738241" y="2905571"/>
            <a:ext cx="3909640" cy="54099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0" name="Text 24"/>
          <p:cNvSpPr/>
          <p:nvPr/>
        </p:nvSpPr>
        <p:spPr>
          <a:xfrm>
            <a:off x="4866903" y="2980134"/>
            <a:ext cx="156626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 System State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6237610" y="2980134"/>
            <a:ext cx="97742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7019479" y="2980134"/>
            <a:ext cx="97742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days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7801347" y="2980134"/>
            <a:ext cx="718096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Separate volume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4738241" y="3446562"/>
            <a:ext cx="3909640" cy="54099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5" name="Text 29"/>
          <p:cNvSpPr/>
          <p:nvPr/>
        </p:nvSpPr>
        <p:spPr>
          <a:xfrm>
            <a:off x="4866903" y="3521125"/>
            <a:ext cx="156626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VM Snapshot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6237610" y="3521125"/>
            <a:ext cx="520229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change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7019479" y="3521125"/>
            <a:ext cx="97742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max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7801347" y="3521125"/>
            <a:ext cx="718096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VMware datastore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4733479" y="4123283"/>
            <a:ext cx="3919165" cy="469627"/>
          </a:xfrm>
          <a:prstGeom prst="roundRect">
            <a:avLst>
              <a:gd name="adj" fmla="val 11490"/>
            </a:avLst>
          </a:prstGeom>
          <a:solidFill>
            <a:srgbClr val="B6D6FC"/>
          </a:solidFill>
          <a:ln/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61917" y="4314230"/>
            <a:ext cx="160586" cy="128439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5150941" y="4260131"/>
            <a:ext cx="383046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RTO: 4 hours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validated quarterly.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7045"/>
            <a:ext cx="5516984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Testing &amp; Verification Results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96119" y="1226567"/>
            <a:ext cx="358452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Network Connectivity — 8/8 PASSED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496119" y="1618580"/>
            <a:ext cx="1880592" cy="746671"/>
          </a:xfrm>
          <a:prstGeom prst="roundRect">
            <a:avLst>
              <a:gd name="adj" fmla="val 7974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2640" y="1765102"/>
            <a:ext cx="15875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Intra-VLAN (IT) ✓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18470" y="1618580"/>
            <a:ext cx="1880592" cy="746671"/>
          </a:xfrm>
          <a:prstGeom prst="roundRect">
            <a:avLst>
              <a:gd name="adj" fmla="val 7974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64991" y="1765102"/>
            <a:ext cx="158755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Inter-VLAN (IT→Banking) ✓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6119" y="2507010"/>
            <a:ext cx="1880592" cy="746671"/>
          </a:xfrm>
          <a:prstGeom prst="roundRect">
            <a:avLst>
              <a:gd name="adj" fmla="val 7974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2640" y="2653531"/>
            <a:ext cx="158755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ACL Block (Banking→Finance) ✓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18470" y="2507010"/>
            <a:ext cx="1880592" cy="746671"/>
          </a:xfrm>
          <a:prstGeom prst="roundRect">
            <a:avLst>
              <a:gd name="adj" fmla="val 7974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64991" y="2653531"/>
            <a:ext cx="15875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Guest VLAN Isolation ✓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6119" y="3395439"/>
            <a:ext cx="1880592" cy="519857"/>
          </a:xfrm>
          <a:prstGeom prst="roundRect">
            <a:avLst>
              <a:gd name="adj" fmla="val 11454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640" y="3541961"/>
            <a:ext cx="15875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DHCP Assignment ✓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18470" y="3395439"/>
            <a:ext cx="1880592" cy="519857"/>
          </a:xfrm>
          <a:prstGeom prst="roundRect">
            <a:avLst>
              <a:gd name="adj" fmla="val 11454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64991" y="3541961"/>
            <a:ext cx="15875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DNS Resolution 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6119" y="4057055"/>
            <a:ext cx="1880592" cy="519857"/>
          </a:xfrm>
          <a:prstGeom prst="roundRect">
            <a:avLst>
              <a:gd name="adj" fmla="val 11454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640" y="4203576"/>
            <a:ext cx="15875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SMB Finance Share ✓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18470" y="4057055"/>
            <a:ext cx="1880592" cy="519857"/>
          </a:xfrm>
          <a:prstGeom prst="roundRect">
            <a:avLst>
              <a:gd name="adj" fmla="val 11454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64991" y="4203576"/>
            <a:ext cx="15875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 Internet Access 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49701" y="1226567"/>
            <a:ext cx="3019797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Server Services — 6/6 PASSED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749701" y="1600870"/>
            <a:ext cx="3902943" cy="1608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 DS: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Domain join verified in ADUC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DHCP: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scopes issued valid leases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DNS: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Forward lookup returned correct IPs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GPO: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Password Policy &amp; Drive Mapping applied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SMB: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Finance share mapped, read/write confirmed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Backup: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Veeam job complete, restore tested OK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49701" y="3369022"/>
            <a:ext cx="3902943" cy="779562"/>
          </a:xfrm>
          <a:prstGeom prst="roundRect">
            <a:avLst>
              <a:gd name="adj" fmla="val 7638"/>
            </a:avLst>
          </a:prstGeom>
          <a:solidFill>
            <a:srgbClr val="B6FCB8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1460" y="3584079"/>
            <a:ext cx="177180" cy="141759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210398" y="3531989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failures recorded.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critical ACLs functioning correctly.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6948"/>
            <a:ext cx="5958334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Challenges &amp; Security Compliance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6119" y="1214438"/>
            <a:ext cx="2407221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Challenges Resolved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96119" y="1572592"/>
            <a:ext cx="298996" cy="298996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0953" y="1591270"/>
            <a:ext cx="20932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9683" y="1615753"/>
            <a:ext cx="3490243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DHCP 169.x.x.x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Added 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ip helper-address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 all SVIs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96119" y="2120726"/>
            <a:ext cx="298996" cy="298996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0953" y="2139404"/>
            <a:ext cx="20932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9683" y="2163887"/>
            <a:ext cx="3490243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ACL blocking IT traffic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Reordered: PERMIT IT above DENY all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6119" y="2824981"/>
            <a:ext cx="298996" cy="298996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0953" y="2843659"/>
            <a:ext cx="20932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9683" y="2868141"/>
            <a:ext cx="3490243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 DS promotion failed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Cleared DNS suffix conflict, flushed DNS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6119" y="3529236"/>
            <a:ext cx="298996" cy="298996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0953" y="3547914"/>
            <a:ext cx="20932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9683" y="3572396"/>
            <a:ext cx="3490243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DFS inaccessible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Firewall exception for TCP 445 scoped to Finance/IT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38836" y="1214438"/>
            <a:ext cx="2212628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Regulatory Alignment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738836" y="1572592"/>
            <a:ext cx="1894582" cy="1118295"/>
          </a:xfrm>
          <a:prstGeom prst="roundRect">
            <a:avLst>
              <a:gd name="adj" fmla="val 4992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B2D4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86027" y="1719783"/>
            <a:ext cx="1600200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BSL BDS/2023/04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VLAN segmentation + ACLs; centralized AD auth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57988" y="1572592"/>
            <a:ext cx="1894656" cy="1118295"/>
          </a:xfrm>
          <a:prstGeom prst="roundRect">
            <a:avLst>
              <a:gd name="adj" fmla="val 4992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B2D4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5179" y="1719783"/>
            <a:ext cx="1600274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PCI DSS v4.0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Finance VLAN isolated; Banking blocked by ACL 101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38836" y="2815456"/>
            <a:ext cx="1894582" cy="912316"/>
          </a:xfrm>
          <a:prstGeom prst="roundRect">
            <a:avLst>
              <a:gd name="adj" fmla="val 6119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B2D4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86027" y="2962647"/>
            <a:ext cx="1600200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 27001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Least privilege via RBAC OUs and GPO enforcement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57988" y="2815456"/>
            <a:ext cx="1894656" cy="912316"/>
          </a:xfrm>
          <a:prstGeom prst="roundRect">
            <a:avLst>
              <a:gd name="adj" fmla="val 6119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B2D4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5179" y="2962647"/>
            <a:ext cx="1600274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NIST 800-41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Cisco ASA 5505 perimeter firewall with DMZ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6119" y="4264596"/>
            <a:ext cx="8151763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Defense-in-Depth: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7 layers — ASA firewall, VLAN segmentation, ACLs, WPA2-Enterprise, GPO endpoint policies, SMB 3.0 encryption, enhanced audit logging.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04304"/>
            <a:ext cx="7066657" cy="450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Conclusion &amp; Future Recommendations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96119" y="1220986"/>
            <a:ext cx="8151763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DCOMP 114 objectives delivered: three-tier topology, Cisco VLANs/ACLs, VLSM addressing, Windows Server 2022 with AD DS, DHCP, DNS, SMB, and Veeam backup. </a:t>
            </a:r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14/14 tests passed.</a:t>
            </a:r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Network compliant with BSL ICT Security Standards 2023.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96119" y="1803276"/>
            <a:ext cx="274662" cy="1715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01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96119" y="2017588"/>
            <a:ext cx="4009355" cy="1905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2124298"/>
            <a:ext cx="4009355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secondary DC </a:t>
            </a:r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DC-RCB02</a:t>
            </a:r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eliminate auth single point of failure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638452" y="1803276"/>
            <a:ext cx="274662" cy="1715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02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38452" y="2017588"/>
            <a:ext cx="4009430" cy="1905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9" name="Text 7"/>
          <p:cNvSpPr/>
          <p:nvPr/>
        </p:nvSpPr>
        <p:spPr>
          <a:xfrm>
            <a:off x="4638452" y="2124298"/>
            <a:ext cx="4009430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</a:t>
            </a:r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Wazuh SIEM</a:t>
            </a:r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real-time security event correlation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6119" y="2792909"/>
            <a:ext cx="274662" cy="1715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03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96119" y="3007221"/>
            <a:ext cx="4009355" cy="1905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12" name="Text 10"/>
          <p:cNvSpPr/>
          <p:nvPr/>
        </p:nvSpPr>
        <p:spPr>
          <a:xfrm>
            <a:off x="496119" y="3113931"/>
            <a:ext cx="4009355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Migrate to </a:t>
            </a:r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SD-WAN</a:t>
            </a:r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improved WAN failover and traffic visibility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38452" y="2792909"/>
            <a:ext cx="274662" cy="1715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04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38452" y="3007221"/>
            <a:ext cx="4009430" cy="1905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15" name="Text 13"/>
          <p:cNvSpPr/>
          <p:nvPr/>
        </p:nvSpPr>
        <p:spPr>
          <a:xfrm>
            <a:off x="4638452" y="3113931"/>
            <a:ext cx="4009430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</a:t>
            </a:r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PRTG Network Monitor</a:t>
            </a:r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24/7 device health monitoring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6119" y="3782541"/>
            <a:ext cx="274662" cy="1715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05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96119" y="3996854"/>
            <a:ext cx="4009355" cy="1905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18" name="Text 16"/>
          <p:cNvSpPr/>
          <p:nvPr/>
        </p:nvSpPr>
        <p:spPr>
          <a:xfrm>
            <a:off x="496119" y="4103563"/>
            <a:ext cx="4009355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 </a:t>
            </a:r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Microsoft Entra ID</a:t>
            </a:r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via Azure AD Connect for hybrid MFA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38452" y="3782541"/>
            <a:ext cx="274662" cy="1715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06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38452" y="3996854"/>
            <a:ext cx="4009430" cy="1905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21" name="Text 19"/>
          <p:cNvSpPr/>
          <p:nvPr/>
        </p:nvSpPr>
        <p:spPr>
          <a:xfrm>
            <a:off x="4638452" y="4103563"/>
            <a:ext cx="4009430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Conduct quarterly </a:t>
            </a:r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BSL-mandated penetration testing</a:t>
            </a:r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per Circular BDS/2023/04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2026-06-17T13:33:41Z</dcterms:created>
  <dcterms:modified xsi:type="dcterms:W3CDTF">2026-06-17T13:33:41Z</dcterms:modified>
</cp:coreProperties>
</file>